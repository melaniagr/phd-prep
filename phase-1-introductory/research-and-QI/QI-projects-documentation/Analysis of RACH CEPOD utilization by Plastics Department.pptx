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Overlock"/>
      <p:regular r:id="rId17"/>
      <p:bold r:id="rId18"/>
      <p:italic r:id="rId19"/>
      <p:boldItalic r:id="rId20"/>
    </p:embeddedFont>
    <p:embeddedFont>
      <p:font typeface="Garamond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i1yZxqK0dfaGqCsNQcFDLg5cJQ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verlock-boldItalic.fntdata"/><Relationship Id="rId22" Type="http://schemas.openxmlformats.org/officeDocument/2006/relationships/font" Target="fonts/Garamond-bold.fntdata"/><Relationship Id="rId21" Type="http://schemas.openxmlformats.org/officeDocument/2006/relationships/font" Target="fonts/Garamond-regular.fntdata"/><Relationship Id="rId24" Type="http://schemas.openxmlformats.org/officeDocument/2006/relationships/font" Target="fonts/Garamond-boldItalic.fntdata"/><Relationship Id="rId23" Type="http://schemas.openxmlformats.org/officeDocument/2006/relationships/font" Target="fonts/Garamond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Overlock-regular.fntdata"/><Relationship Id="rId16" Type="http://schemas.openxmlformats.org/officeDocument/2006/relationships/slide" Target="slides/slide12.xml"/><Relationship Id="rId19" Type="http://schemas.openxmlformats.org/officeDocument/2006/relationships/font" Target="fonts/Overlock-italic.fntdata"/><Relationship Id="rId18" Type="http://schemas.openxmlformats.org/officeDocument/2006/relationships/font" Target="fonts/Overlock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GB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-Plastics occupies 1/3 of CEPOD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-2/3 of these procedures are Reg led</a:t>
            </a:r>
            <a:endParaRPr/>
          </a:p>
        </p:txBody>
      </p:sp>
      <p:sp>
        <p:nvSpPr>
          <p:cNvPr id="101" name="Google Shape;10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ea31a69de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ea31a69de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2ea31a69deb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9e8f5515b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e9e8f5515b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2e9e8f5515b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e9e8f5515b_0_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e9e8f5515b_0_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2e9e8f5515b_0_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e9f11b615b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e9f11b615b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2e9f11b615b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9f11b615b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e9f11b615b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2e9f11b615b_0_4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2e9e8f5515b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2e9e8f5515b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Keeping in mind this has not been done considering the real time each procedure took, but stablishing 45min per burns plus 90 min per fracture as an average.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2e9e8f5515b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5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351005" y="177502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Overlock"/>
              <a:buNone/>
            </a:pPr>
            <a:r>
              <a:rPr lang="en-GB">
                <a:latin typeface="Overlock"/>
                <a:ea typeface="Overlock"/>
                <a:cs typeface="Overlock"/>
                <a:sym typeface="Overlock"/>
              </a:rPr>
              <a:t>Analysis of RACH CEPOD utilization by Plastics Department</a:t>
            </a:r>
            <a:endParaRPr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36363"/>
              <a:buFont typeface="Overlock"/>
              <a:buNone/>
            </a:pPr>
            <a:r>
              <a:rPr lang="en-GB" sz="4400">
                <a:latin typeface="Overlock"/>
                <a:ea typeface="Overlock"/>
                <a:cs typeface="Overlock"/>
                <a:sym typeface="Overlock"/>
              </a:rPr>
              <a:t>-</a:t>
            </a:r>
            <a:r>
              <a:rPr lang="en-GB" sz="4400">
                <a:latin typeface="Overlock"/>
                <a:ea typeface="Overlock"/>
                <a:cs typeface="Overlock"/>
                <a:sym typeface="Overlock"/>
              </a:rPr>
              <a:t>QI project-</a:t>
            </a:r>
            <a:endParaRPr sz="4400"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351005" y="4254696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>
                <a:latin typeface="Garamond"/>
                <a:ea typeface="Garamond"/>
                <a:cs typeface="Garamond"/>
                <a:sym typeface="Garamond"/>
              </a:rPr>
              <a:t>Supervisor: Ms Greenhowe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GB">
                <a:latin typeface="Garamond"/>
                <a:ea typeface="Garamond"/>
                <a:cs typeface="Garamond"/>
                <a:sym typeface="Garamond"/>
              </a:rPr>
              <a:t>Dr Melania Geymonat Ramirez</a:t>
            </a: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18625" l="0" r="77949" t="18979"/>
          <a:stretch/>
        </p:blipFill>
        <p:spPr>
          <a:xfrm>
            <a:off x="11051266" y="5910458"/>
            <a:ext cx="802567" cy="60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 txBox="1"/>
          <p:nvPr>
            <p:ph type="title"/>
          </p:nvPr>
        </p:nvSpPr>
        <p:spPr>
          <a:xfrm>
            <a:off x="838200" y="73582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GB">
                <a:latin typeface="Overlock"/>
                <a:ea typeface="Overlock"/>
                <a:cs typeface="Overlock"/>
                <a:sym typeface="Overlock"/>
              </a:rPr>
              <a:t>Analysis of procedures done in RACH CEPOD by Plastics Department</a:t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96" name="Google Shape;96;p2"/>
          <p:cNvSpPr txBox="1"/>
          <p:nvPr>
            <p:ph idx="1" type="body"/>
          </p:nvPr>
        </p:nvSpPr>
        <p:spPr>
          <a:xfrm>
            <a:off x="838200" y="2264725"/>
            <a:ext cx="10515600" cy="41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Char char="•"/>
            </a:pPr>
            <a:r>
              <a:rPr lang="en-GB" sz="2400">
                <a:latin typeface="Garamond"/>
                <a:ea typeface="Garamond"/>
                <a:cs typeface="Garamond"/>
                <a:sym typeface="Garamond"/>
              </a:rPr>
              <a:t>D</a:t>
            </a:r>
            <a:r>
              <a:rPr lang="en-GB" sz="2400">
                <a:latin typeface="Garamond"/>
                <a:ea typeface="Garamond"/>
                <a:cs typeface="Garamond"/>
                <a:sym typeface="Garamond"/>
              </a:rPr>
              <a:t>ata gathering: procedures in RACH CEPOD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Char char="•"/>
            </a:pPr>
            <a:r>
              <a:rPr lang="en-GB" sz="2400">
                <a:latin typeface="Garamond"/>
                <a:ea typeface="Garamond"/>
                <a:cs typeface="Garamond"/>
                <a:sym typeface="Garamond"/>
              </a:rPr>
              <a:t>Data analysis: 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•"/>
            </a:pPr>
            <a:r>
              <a:rPr lang="en-GB" sz="2000">
                <a:latin typeface="Garamond"/>
                <a:ea typeface="Garamond"/>
                <a:cs typeface="Garamond"/>
                <a:sym typeface="Garamond"/>
              </a:rPr>
              <a:t>By frequency</a:t>
            </a:r>
            <a:endParaRPr sz="2000">
              <a:latin typeface="Garamond"/>
              <a:ea typeface="Garamond"/>
              <a:cs typeface="Garamond"/>
              <a:sym typeface="Garamond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Garamond"/>
              <a:buChar char="•"/>
            </a:pPr>
            <a:r>
              <a:rPr lang="en-GB" sz="2000">
                <a:latin typeface="Garamond"/>
                <a:ea typeface="Garamond"/>
                <a:cs typeface="Garamond"/>
                <a:sym typeface="Garamond"/>
              </a:rPr>
              <a:t>By department</a:t>
            </a:r>
            <a:endParaRPr sz="2000">
              <a:latin typeface="Garamond"/>
              <a:ea typeface="Garamond"/>
              <a:cs typeface="Garamond"/>
              <a:sym typeface="Garamond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•"/>
            </a:pPr>
            <a:r>
              <a:rPr lang="en-GB" sz="2000">
                <a:latin typeface="Garamond"/>
                <a:ea typeface="Garamond"/>
                <a:cs typeface="Garamond"/>
                <a:sym typeface="Garamond"/>
              </a:rPr>
              <a:t>B</a:t>
            </a:r>
            <a:r>
              <a:rPr lang="en-GB" sz="2000">
                <a:latin typeface="Garamond"/>
                <a:ea typeface="Garamond"/>
                <a:cs typeface="Garamond"/>
                <a:sym typeface="Garamond"/>
              </a:rPr>
              <a:t>y type of surgery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aramond"/>
              <a:buChar char="•"/>
            </a:pPr>
            <a:r>
              <a:rPr lang="en-GB" sz="2000">
                <a:latin typeface="Garamond"/>
                <a:ea typeface="Garamond"/>
                <a:cs typeface="Garamond"/>
                <a:sym typeface="Garamond"/>
              </a:rPr>
              <a:t>B</a:t>
            </a:r>
            <a:r>
              <a:rPr lang="en-GB" sz="2000">
                <a:latin typeface="Garamond"/>
                <a:ea typeface="Garamond"/>
                <a:cs typeface="Garamond"/>
                <a:sym typeface="Garamond"/>
              </a:rPr>
              <a:t>y role of surgeon in charge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Garamond"/>
              <a:ea typeface="Garamond"/>
              <a:cs typeface="Garamond"/>
              <a:sym typeface="Garamond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Char char="•"/>
            </a:pPr>
            <a:r>
              <a:rPr lang="en-GB">
                <a:latin typeface="Garamond"/>
                <a:ea typeface="Garamond"/>
                <a:cs typeface="Garamond"/>
                <a:sym typeface="Garamond"/>
              </a:rPr>
              <a:t>Period</a:t>
            </a:r>
            <a:r>
              <a:rPr lang="en-GB">
                <a:latin typeface="Garamond"/>
                <a:ea typeface="Garamond"/>
                <a:cs typeface="Garamond"/>
                <a:sym typeface="Garamond"/>
              </a:rPr>
              <a:t>: February – March 2024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aramond"/>
              <a:buChar char="•"/>
            </a:pPr>
            <a:r>
              <a:rPr lang="en-GB">
                <a:latin typeface="Garamond"/>
                <a:ea typeface="Garamond"/>
                <a:cs typeface="Garamond"/>
                <a:sym typeface="Garamond"/>
              </a:rPr>
              <a:t>Number of patients: 94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97" name="Google Shape;97;p2"/>
          <p:cNvPicPr preferRelativeResize="0"/>
          <p:nvPr/>
        </p:nvPicPr>
        <p:blipFill rotWithShape="1">
          <a:blip r:embed="rId3">
            <a:alphaModFix/>
          </a:blip>
          <a:srcRect b="18625" l="0" r="77949" t="18979"/>
          <a:stretch/>
        </p:blipFill>
        <p:spPr>
          <a:xfrm>
            <a:off x="11051266" y="5910458"/>
            <a:ext cx="802567" cy="60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3"/>
          <p:cNvPicPr preferRelativeResize="0"/>
          <p:nvPr/>
        </p:nvPicPr>
        <p:blipFill rotWithShape="1">
          <a:blip r:embed="rId3">
            <a:alphaModFix/>
          </a:blip>
          <a:srcRect b="18625" l="0" r="77949" t="18979"/>
          <a:stretch/>
        </p:blipFill>
        <p:spPr>
          <a:xfrm>
            <a:off x="11051266" y="5910458"/>
            <a:ext cx="802567" cy="601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3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27738" y="2020775"/>
            <a:ext cx="6936525" cy="42833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 txBox="1"/>
          <p:nvPr>
            <p:ph type="title"/>
          </p:nvPr>
        </p:nvSpPr>
        <p:spPr>
          <a:xfrm>
            <a:off x="838200" y="73582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GB">
                <a:latin typeface="Overlock"/>
                <a:ea typeface="Overlock"/>
                <a:cs typeface="Overlock"/>
                <a:sym typeface="Overlock"/>
              </a:rPr>
              <a:t>Findings: utilization of RACH CEPOD</a:t>
            </a:r>
            <a:endParaRPr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GB">
                <a:latin typeface="Overlock"/>
                <a:ea typeface="Overlock"/>
                <a:cs typeface="Overlock"/>
                <a:sym typeface="Overlock"/>
              </a:rPr>
              <a:t> </a:t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4"/>
          <p:cNvPicPr preferRelativeResize="0"/>
          <p:nvPr/>
        </p:nvPicPr>
        <p:blipFill rotWithShape="1">
          <a:blip r:embed="rId3">
            <a:alphaModFix/>
          </a:blip>
          <a:srcRect b="18625" l="0" r="77949" t="18979"/>
          <a:stretch/>
        </p:blipFill>
        <p:spPr>
          <a:xfrm>
            <a:off x="11051266" y="5910458"/>
            <a:ext cx="802567" cy="60193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 txBox="1"/>
          <p:nvPr/>
        </p:nvSpPr>
        <p:spPr>
          <a:xfrm>
            <a:off x="1413375" y="274475"/>
            <a:ext cx="90483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 txBox="1"/>
          <p:nvPr>
            <p:ph type="title"/>
          </p:nvPr>
        </p:nvSpPr>
        <p:spPr>
          <a:xfrm>
            <a:off x="838200" y="73582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GB">
                <a:latin typeface="Overlock"/>
                <a:ea typeface="Overlock"/>
                <a:cs typeface="Overlock"/>
                <a:sym typeface="Overlock"/>
              </a:rPr>
              <a:t>Findings: </a:t>
            </a:r>
            <a:r>
              <a:rPr lang="en-GB">
                <a:latin typeface="Overlock"/>
                <a:ea typeface="Overlock"/>
                <a:cs typeface="Overlock"/>
                <a:sym typeface="Overlock"/>
              </a:rPr>
              <a:t>disaggregation per procedure</a:t>
            </a:r>
            <a:endParaRPr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GB">
                <a:latin typeface="Overlock"/>
                <a:ea typeface="Overlock"/>
                <a:cs typeface="Overlock"/>
                <a:sym typeface="Overlock"/>
              </a:rPr>
              <a:t> </a:t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114" name="Google Shape;114;p4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00550" y="2061528"/>
            <a:ext cx="7273962" cy="44916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a31a69deb_0_1"/>
          <p:cNvSpPr txBox="1"/>
          <p:nvPr>
            <p:ph type="title"/>
          </p:nvPr>
        </p:nvSpPr>
        <p:spPr>
          <a:xfrm>
            <a:off x="838200" y="73582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GB">
                <a:latin typeface="Overlock"/>
                <a:ea typeface="Overlock"/>
                <a:cs typeface="Overlock"/>
                <a:sym typeface="Overlock"/>
              </a:rPr>
              <a:t>Findings: role of leading surgeon </a:t>
            </a:r>
            <a:endParaRPr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121" name="Google Shape;121;g2ea31a69deb_0_1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9025" y="2061528"/>
            <a:ext cx="7273962" cy="4491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2ea31a69deb_0_1"/>
          <p:cNvPicPr preferRelativeResize="0"/>
          <p:nvPr/>
        </p:nvPicPr>
        <p:blipFill rotWithShape="1">
          <a:blip r:embed="rId4">
            <a:alphaModFix/>
          </a:blip>
          <a:srcRect b="18624" l="0" r="77948" t="18980"/>
          <a:stretch/>
        </p:blipFill>
        <p:spPr>
          <a:xfrm>
            <a:off x="11051266" y="5910458"/>
            <a:ext cx="802567" cy="60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5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8800" y="1798150"/>
            <a:ext cx="7634400" cy="4714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5"/>
          <p:cNvPicPr preferRelativeResize="0"/>
          <p:nvPr/>
        </p:nvPicPr>
        <p:blipFill rotWithShape="1">
          <a:blip r:embed="rId4">
            <a:alphaModFix/>
          </a:blip>
          <a:srcRect b="18624" l="0" r="77948" t="18980"/>
          <a:stretch/>
        </p:blipFill>
        <p:spPr>
          <a:xfrm>
            <a:off x="11051266" y="5910458"/>
            <a:ext cx="802567" cy="601934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 txBox="1"/>
          <p:nvPr>
            <p:ph type="title"/>
          </p:nvPr>
        </p:nvSpPr>
        <p:spPr>
          <a:xfrm>
            <a:off x="838200" y="73582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GB">
                <a:latin typeface="Overlock"/>
                <a:ea typeface="Overlock"/>
                <a:cs typeface="Overlock"/>
                <a:sym typeface="Overlock"/>
              </a:rPr>
              <a:t>Findings: </a:t>
            </a:r>
            <a:r>
              <a:rPr lang="en-GB">
                <a:latin typeface="Overlock"/>
                <a:ea typeface="Overlock"/>
                <a:cs typeface="Overlock"/>
                <a:sym typeface="Overlock"/>
              </a:rPr>
              <a:t>activity per week</a:t>
            </a:r>
            <a:endParaRPr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2e9e8f5515b_0_1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963" y="2669050"/>
            <a:ext cx="5655825" cy="3492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e9e8f5515b_0_1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25788" y="2669050"/>
            <a:ext cx="5488875" cy="33893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e9e8f5515b_0_1"/>
          <p:cNvSpPr txBox="1"/>
          <p:nvPr/>
        </p:nvSpPr>
        <p:spPr>
          <a:xfrm>
            <a:off x="1466825" y="2061525"/>
            <a:ext cx="42621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Hand fractures</a:t>
            </a:r>
            <a:endParaRPr sz="28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38" name="Google Shape;138;g2e9e8f5515b_0_1"/>
          <p:cNvSpPr txBox="1"/>
          <p:nvPr/>
        </p:nvSpPr>
        <p:spPr>
          <a:xfrm>
            <a:off x="7039175" y="2061525"/>
            <a:ext cx="4262100" cy="9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solidFill>
                  <a:schemeClr val="dk1"/>
                </a:solidFill>
                <a:latin typeface="Overlock"/>
                <a:ea typeface="Overlock"/>
                <a:cs typeface="Overlock"/>
                <a:sym typeface="Overlock"/>
              </a:rPr>
              <a:t>Burns</a:t>
            </a:r>
            <a:endParaRPr sz="2800">
              <a:solidFill>
                <a:schemeClr val="dk1"/>
              </a:solidFill>
              <a:latin typeface="Overlock"/>
              <a:ea typeface="Overlock"/>
              <a:cs typeface="Overlock"/>
              <a:sym typeface="Overlock"/>
            </a:endParaRPr>
          </a:p>
        </p:txBody>
      </p:sp>
      <p:pic>
        <p:nvPicPr>
          <p:cNvPr id="139" name="Google Shape;139;g2e9e8f5515b_0_1"/>
          <p:cNvPicPr preferRelativeResize="0"/>
          <p:nvPr/>
        </p:nvPicPr>
        <p:blipFill rotWithShape="1">
          <a:blip r:embed="rId5">
            <a:alphaModFix/>
          </a:blip>
          <a:srcRect b="18624" l="0" r="77948" t="18980"/>
          <a:stretch/>
        </p:blipFill>
        <p:spPr>
          <a:xfrm>
            <a:off x="11051266" y="5910458"/>
            <a:ext cx="802567" cy="60193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g2e9e8f5515b_0_1"/>
          <p:cNvSpPr txBox="1"/>
          <p:nvPr>
            <p:ph type="title"/>
          </p:nvPr>
        </p:nvSpPr>
        <p:spPr>
          <a:xfrm>
            <a:off x="838200" y="73582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GB">
                <a:latin typeface="Overlock"/>
                <a:ea typeface="Overlock"/>
                <a:cs typeface="Overlock"/>
                <a:sym typeface="Overlock"/>
              </a:rPr>
              <a:t>Findings: </a:t>
            </a:r>
            <a:r>
              <a:rPr lang="en-GB">
                <a:latin typeface="Overlock"/>
                <a:ea typeface="Overlock"/>
                <a:cs typeface="Overlock"/>
                <a:sym typeface="Overlock"/>
              </a:rPr>
              <a:t>role of leading surgeon in hand fracture and burns procedures</a:t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e9e8f5515b_0_11"/>
          <p:cNvSpPr txBox="1"/>
          <p:nvPr>
            <p:ph idx="1" type="body"/>
          </p:nvPr>
        </p:nvSpPr>
        <p:spPr>
          <a:xfrm>
            <a:off x="838200" y="1938900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aramond"/>
              <a:buChar char="•"/>
            </a:pPr>
            <a:r>
              <a:rPr lang="en-GB" sz="3000">
                <a:latin typeface="Garamond"/>
                <a:ea typeface="Garamond"/>
                <a:cs typeface="Garamond"/>
                <a:sym typeface="Garamond"/>
              </a:rPr>
              <a:t>Is the current situation a good standard of care / training?</a:t>
            </a:r>
            <a:endParaRPr sz="3000">
              <a:latin typeface="Garamond"/>
              <a:ea typeface="Garamond"/>
              <a:cs typeface="Garamond"/>
              <a:sym typeface="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aramond"/>
              <a:buChar char="•"/>
            </a:pPr>
            <a:r>
              <a:rPr lang="en-GB" sz="3000">
                <a:latin typeface="Garamond"/>
                <a:ea typeface="Garamond"/>
                <a:cs typeface="Garamond"/>
                <a:sym typeface="Garamond"/>
              </a:rPr>
              <a:t>Can it</a:t>
            </a:r>
            <a:r>
              <a:rPr lang="en-GB" sz="3000">
                <a:latin typeface="Garamond"/>
                <a:ea typeface="Garamond"/>
                <a:cs typeface="Garamond"/>
                <a:sym typeface="Garamond"/>
              </a:rPr>
              <a:t> be improved with more resource allocation?</a:t>
            </a:r>
            <a:endParaRPr sz="3000">
              <a:latin typeface="Garamond"/>
              <a:ea typeface="Garamond"/>
              <a:cs typeface="Garamond"/>
              <a:sym typeface="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aramond"/>
              <a:buChar char="•"/>
            </a:pPr>
            <a:r>
              <a:rPr lang="en-GB" sz="3000">
                <a:latin typeface="Garamond"/>
                <a:ea typeface="Garamond"/>
                <a:cs typeface="Garamond"/>
                <a:sym typeface="Garamond"/>
              </a:rPr>
              <a:t>Should there be an allocated consultant to lead all procedures? </a:t>
            </a:r>
            <a:endParaRPr sz="3000">
              <a:latin typeface="Garamond"/>
              <a:ea typeface="Garamond"/>
              <a:cs typeface="Garamond"/>
              <a:sym typeface="Garamon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Garamond"/>
              <a:buChar char="•"/>
            </a:pPr>
            <a:r>
              <a:rPr lang="en-GB" sz="3000">
                <a:latin typeface="Garamond"/>
                <a:ea typeface="Garamond"/>
                <a:cs typeface="Garamond"/>
                <a:sym typeface="Garamond"/>
              </a:rPr>
              <a:t>If not, which ones?</a:t>
            </a:r>
            <a:endParaRPr sz="3000">
              <a:latin typeface="Garamond"/>
              <a:ea typeface="Garamond"/>
              <a:cs typeface="Garamond"/>
              <a:sym typeface="Garamond"/>
            </a:endParaRPr>
          </a:p>
          <a:p>
            <a:pPr indent="-419100" lvl="1" marL="914400" rtl="0" algn="l">
              <a:spcBef>
                <a:spcPts val="0"/>
              </a:spcBef>
              <a:spcAft>
                <a:spcPts val="0"/>
              </a:spcAft>
              <a:buSzPts val="3000"/>
              <a:buFont typeface="Garamond"/>
              <a:buChar char="•"/>
            </a:pPr>
            <a:r>
              <a:rPr lang="en-GB" sz="3000">
                <a:latin typeface="Garamond"/>
                <a:ea typeface="Garamond"/>
                <a:cs typeface="Garamond"/>
                <a:sym typeface="Garamond"/>
              </a:rPr>
              <a:t>Is it possible to think of a Consultant allocated two / three mornings per week to lead hand fractures and burns, accommodating other procedures if needed?</a:t>
            </a:r>
            <a:endParaRPr sz="3000">
              <a:latin typeface="Garamond"/>
              <a:ea typeface="Garamond"/>
              <a:cs typeface="Garamond"/>
              <a:sym typeface="Garamond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aramond"/>
              <a:buChar char="•"/>
            </a:pPr>
            <a:r>
              <a:rPr lang="en-GB" sz="3000">
                <a:latin typeface="Garamond"/>
                <a:ea typeface="Garamond"/>
                <a:cs typeface="Garamond"/>
                <a:sym typeface="Garamond"/>
              </a:rPr>
              <a:t>Which procedures should be Registrar-led?</a:t>
            </a:r>
            <a:endParaRPr sz="3000"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47" name="Google Shape;147;g2e9e8f5515b_0_11"/>
          <p:cNvPicPr preferRelativeResize="0"/>
          <p:nvPr/>
        </p:nvPicPr>
        <p:blipFill rotWithShape="1">
          <a:blip r:embed="rId3">
            <a:alphaModFix/>
          </a:blip>
          <a:srcRect b="18624" l="0" r="77948" t="18980"/>
          <a:stretch/>
        </p:blipFill>
        <p:spPr>
          <a:xfrm>
            <a:off x="11051266" y="5910458"/>
            <a:ext cx="802567" cy="60193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2e9e8f5515b_0_11"/>
          <p:cNvSpPr txBox="1"/>
          <p:nvPr>
            <p:ph type="title"/>
          </p:nvPr>
        </p:nvSpPr>
        <p:spPr>
          <a:xfrm>
            <a:off x="990600" y="88822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GB">
                <a:latin typeface="Overlock"/>
                <a:ea typeface="Overlock"/>
                <a:cs typeface="Overlock"/>
                <a:sym typeface="Overlock"/>
              </a:rPr>
              <a:t>Discussion: </a:t>
            </a:r>
            <a:endParaRPr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2e9f11b615b_0_14"/>
          <p:cNvPicPr preferRelativeResize="0"/>
          <p:nvPr/>
        </p:nvPicPr>
        <p:blipFill rotWithShape="1">
          <a:blip r:embed="rId3">
            <a:alphaModFix/>
          </a:blip>
          <a:srcRect b="18624" l="0" r="77948" t="18980"/>
          <a:stretch/>
        </p:blipFill>
        <p:spPr>
          <a:xfrm>
            <a:off x="11051266" y="5910458"/>
            <a:ext cx="802567" cy="601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g2e9f11b615b_0_14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8850" y="1690825"/>
            <a:ext cx="7874292" cy="48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2e9f11b615b_0_14"/>
          <p:cNvSpPr txBox="1"/>
          <p:nvPr>
            <p:ph type="title"/>
          </p:nvPr>
        </p:nvSpPr>
        <p:spPr>
          <a:xfrm>
            <a:off x="838200" y="73582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GB">
                <a:latin typeface="Overlock"/>
                <a:ea typeface="Overlock"/>
                <a:cs typeface="Overlock"/>
                <a:sym typeface="Overlock"/>
              </a:rPr>
              <a:t>Possibilities: a Consultant allocated e.g three mornings per week </a:t>
            </a:r>
            <a:endParaRPr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g2e9f11b615b_0_49"/>
          <p:cNvPicPr preferRelativeResize="0"/>
          <p:nvPr/>
        </p:nvPicPr>
        <p:blipFill rotWithShape="1">
          <a:blip r:embed="rId3">
            <a:alphaModFix/>
          </a:blip>
          <a:srcRect b="18624" l="0" r="77948" t="18980"/>
          <a:stretch/>
        </p:blipFill>
        <p:spPr>
          <a:xfrm>
            <a:off x="11051266" y="5910458"/>
            <a:ext cx="802567" cy="6019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2e9f11b615b_0_49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58850" y="1690825"/>
            <a:ext cx="7874292" cy="4862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g2e9f11b615b_0_49"/>
          <p:cNvSpPr txBox="1"/>
          <p:nvPr>
            <p:ph type="title"/>
          </p:nvPr>
        </p:nvSpPr>
        <p:spPr>
          <a:xfrm>
            <a:off x="838200" y="73582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3950">
                <a:latin typeface="Overlock"/>
                <a:ea typeface="Overlock"/>
                <a:cs typeface="Overlock"/>
                <a:sym typeface="Overlock"/>
              </a:rPr>
              <a:t>Possibilities: </a:t>
            </a:r>
            <a:r>
              <a:rPr lang="en-GB" sz="3950">
                <a:latin typeface="Overlock"/>
                <a:ea typeface="Overlock"/>
                <a:cs typeface="Overlock"/>
                <a:sym typeface="Overlock"/>
              </a:rPr>
              <a:t>a Consultant allocated e.g. two mornings per week</a:t>
            </a:r>
            <a:endParaRPr sz="3950">
              <a:latin typeface="Overlock"/>
              <a:ea typeface="Overlock"/>
              <a:cs typeface="Overlock"/>
              <a:sym typeface="Overlo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950">
              <a:latin typeface="Overlock"/>
              <a:ea typeface="Overlock"/>
              <a:cs typeface="Overlock"/>
              <a:sym typeface="Overlock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9e8f5515b_0_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Possibilities</a:t>
            </a:r>
            <a:endParaRPr/>
          </a:p>
        </p:txBody>
      </p:sp>
      <p:sp>
        <p:nvSpPr>
          <p:cNvPr id="171" name="Google Shape;171;g2e9e8f5515b_0_20"/>
          <p:cNvSpPr txBox="1"/>
          <p:nvPr>
            <p:ph idx="1" type="body"/>
          </p:nvPr>
        </p:nvSpPr>
        <p:spPr>
          <a:xfrm>
            <a:off x="838200" y="139527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If a Consultant was allocated e.g. two mornings per week:</a:t>
            </a:r>
            <a:endParaRPr/>
          </a:p>
        </p:txBody>
      </p:sp>
      <p:pic>
        <p:nvPicPr>
          <p:cNvPr id="172" name="Google Shape;172;g2e9e8f5515b_0_20" title="Gráfico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250" y="2083500"/>
            <a:ext cx="4593201" cy="283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2e9e8f5515b_0_20" title="Gráfico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1400" y="2083500"/>
            <a:ext cx="6254625" cy="386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2e9e8f5515b_0_20"/>
          <p:cNvPicPr preferRelativeResize="0"/>
          <p:nvPr/>
        </p:nvPicPr>
        <p:blipFill rotWithShape="1">
          <a:blip r:embed="rId5">
            <a:alphaModFix/>
          </a:blip>
          <a:srcRect b="18624" l="0" r="77948" t="18980"/>
          <a:stretch/>
        </p:blipFill>
        <p:spPr>
          <a:xfrm>
            <a:off x="11051266" y="5910458"/>
            <a:ext cx="802567" cy="60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Overlock"/>
              <a:buNone/>
            </a:pPr>
            <a:r>
              <a:rPr lang="en-GB">
                <a:latin typeface="Overlock"/>
                <a:ea typeface="Overlock"/>
                <a:cs typeface="Overlock"/>
                <a:sym typeface="Overlock"/>
              </a:rPr>
              <a:t>What is next?</a:t>
            </a:r>
            <a:endParaRPr>
              <a:latin typeface="Overlock"/>
              <a:ea typeface="Overlock"/>
              <a:cs typeface="Overlock"/>
              <a:sym typeface="Overlock"/>
            </a:endParaRPr>
          </a:p>
        </p:txBody>
      </p:sp>
      <p:sp>
        <p:nvSpPr>
          <p:cNvPr id="180" name="Google Shape;180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aramond"/>
              <a:buChar char="•"/>
            </a:pPr>
            <a:r>
              <a:rPr lang="en-GB">
                <a:latin typeface="Garamond"/>
                <a:ea typeface="Garamond"/>
                <a:cs typeface="Garamond"/>
                <a:sym typeface="Garamond"/>
              </a:rPr>
              <a:t>Set standard of care / training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aramond"/>
              <a:buChar char="•"/>
            </a:pPr>
            <a:r>
              <a:rPr lang="en-GB">
                <a:latin typeface="Garamond"/>
                <a:ea typeface="Garamond"/>
                <a:cs typeface="Garamond"/>
                <a:sym typeface="Garamond"/>
              </a:rPr>
              <a:t>A</a:t>
            </a:r>
            <a:r>
              <a:rPr lang="en-GB">
                <a:latin typeface="Garamond"/>
                <a:ea typeface="Garamond"/>
                <a:cs typeface="Garamond"/>
                <a:sym typeface="Garamond"/>
              </a:rPr>
              <a:t>dvocate for more resources if needed</a:t>
            </a:r>
            <a:endParaRPr>
              <a:latin typeface="Garamond"/>
              <a:ea typeface="Garamond"/>
              <a:cs typeface="Garamond"/>
              <a:sym typeface="Garamond"/>
            </a:endParaRPr>
          </a:p>
          <a:p>
            <a:pPr indent="-3429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aramond"/>
              <a:buChar char="•"/>
            </a:pPr>
            <a:r>
              <a:rPr lang="en-GB">
                <a:latin typeface="Garamond"/>
                <a:ea typeface="Garamond"/>
                <a:cs typeface="Garamond"/>
                <a:sym typeface="Garamond"/>
              </a:rPr>
              <a:t>Audit</a:t>
            </a:r>
            <a:endParaRPr>
              <a:latin typeface="Garamond"/>
              <a:ea typeface="Garamond"/>
              <a:cs typeface="Garamond"/>
              <a:sym typeface="Garamond"/>
            </a:endParaRPr>
          </a:p>
        </p:txBody>
      </p:sp>
      <p:pic>
        <p:nvPicPr>
          <p:cNvPr id="181" name="Google Shape;181;p8"/>
          <p:cNvPicPr preferRelativeResize="0"/>
          <p:nvPr/>
        </p:nvPicPr>
        <p:blipFill rotWithShape="1">
          <a:blip r:embed="rId3">
            <a:alphaModFix/>
          </a:blip>
          <a:srcRect b="18624" l="0" r="77948" t="18980"/>
          <a:stretch/>
        </p:blipFill>
        <p:spPr>
          <a:xfrm>
            <a:off x="11051266" y="5910458"/>
            <a:ext cx="802567" cy="601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2024-02-14T18:02:44Z</dcterms:created>
  <dc:creator>Rebecca Kelly</dc:creator>
</cp:coreProperties>
</file>